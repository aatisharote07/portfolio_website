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Problem Definition</c:v>
                </c:pt>
              </c:strCache>
            </c:strRef>
          </c:tx>
          <c:spPr>
            <a:solidFill>
              <a:srgbClr val="00C9B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B5-4789-A654-58A2203971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Literature Review</c:v>
                </c:pt>
              </c:strCache>
            </c:strRef>
          </c:tx>
          <c:spPr>
            <a:solidFill>
              <a:srgbClr val="009E8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B5-4789-A654-58A22039717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Requirement Gathering</c:v>
                </c:pt>
              </c:strCache>
            </c:strRef>
          </c:tx>
          <c:spPr>
            <a:solidFill>
              <a:srgbClr val="4A9EFF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B5-4789-A654-58A22039717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System Analysis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1B5-4789-A654-58A22039717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System Designing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B5-4789-A654-58A22039717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Documentation</c:v>
                </c:pt>
              </c:strCache>
            </c:strRef>
          </c:tx>
          <c:spPr>
            <a:solidFill>
              <a:srgbClr val="A5F3FC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Aug</c:v>
                </c:pt>
                <c:pt idx="1">
                  <c:v>Sep</c:v>
                </c:pt>
                <c:pt idx="2">
                  <c:v>Oct</c:v>
                </c:pt>
                <c:pt idx="3">
                  <c:v>Nov</c:v>
                </c:pt>
              </c:strCache>
            </c:strRef>
          </c:cat>
          <c:val>
            <c:numRef>
              <c:f>Sheet1!$G$2:$G$5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1B5-4789-A654-58A2203971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4A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E3A4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744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0C9B1">
              <a:alpha val="1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4A9EFF">
              <a:alpha val="12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40080"/>
            <a:ext cx="3136392" cy="237744"/>
          </a:xfrm>
          <a:prstGeom prst="roundRect">
            <a:avLst>
              <a:gd name="adj" fmla="val 30769"/>
            </a:avLst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9224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MAJOR PROJECT — GROUP 09  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Analyzer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candidate screening using Groq LPU + Llama-4 Scout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127248"/>
            <a:ext cx="4114800" cy="2743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2918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Aatish Ramdas Arote   (02)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566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Viraj Vilas Gawari       (12)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8404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Aarya Pramod Koli       (25)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1148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Amey Anand Sarode    (51)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44622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D. S. Tharwani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Engineering | KGCE, Karjat | 2025–26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560320" cy="914400"/>
          </a:xfrm>
          <a:prstGeom prst="rect">
            <a:avLst/>
          </a:prstGeom>
          <a:solidFill>
            <a:srgbClr val="1E3A4F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217920" y="20299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578608"/>
            <a:ext cx="2560320" cy="914400"/>
          </a:xfrm>
          <a:prstGeom prst="rect">
            <a:avLst/>
          </a:prstGeom>
          <a:solidFill>
            <a:srgbClr val="1E3A4F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26243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217920" y="31455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Analyzed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694176"/>
            <a:ext cx="2560320" cy="914400"/>
          </a:xfrm>
          <a:prstGeom prst="rect">
            <a:avLst/>
          </a:prstGeom>
          <a:solidFill>
            <a:srgbClr val="1E3A4F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17920" y="37398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&lt;1s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217920" y="4261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114800" cy="74980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73152" cy="7498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058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114800" cy="74980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73152" cy="7498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920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1792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4114800" cy="74980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788920"/>
            <a:ext cx="73152" cy="7498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834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Design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4114800" cy="74980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03320"/>
            <a:ext cx="73152" cy="7498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7490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960120"/>
            <a:ext cx="4114800" cy="74980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960120"/>
            <a:ext cx="73152" cy="7498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65192" y="10058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965192" y="1325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Testing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1874520"/>
            <a:ext cx="4114800" cy="74980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1874520"/>
            <a:ext cx="73152" cy="7498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65192" y="19202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965192" y="22402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UI Walkthrough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2788920"/>
            <a:ext cx="4114800" cy="74980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788920"/>
            <a:ext cx="73152" cy="7498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28346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965192" y="31546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Advantages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3703320"/>
            <a:ext cx="4114800" cy="74980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3703320"/>
            <a:ext cx="73152" cy="7498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65192" y="374904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965192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&amp; 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686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today involves processing hundreds of resumes manually — a slow, biased, and costly process. AI-powered tools using NLP and Machine Learning can automate evaluation, extract key information, and match candidates against job requirements with far greater speed and fairness.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5303520" cy="62179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1122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Matching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3682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keywords — understands skills in context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70632"/>
            <a:ext cx="5303520" cy="62179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43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82549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Processing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308152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LPU delivers &lt;1s inference vs 10s+ GPU latency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483864"/>
            <a:ext cx="5303520" cy="62179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35387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Compatibility Score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79476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scoring against job description criteria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197096"/>
            <a:ext cx="5303520" cy="62179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42519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Reduction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50799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data-driven evaluation every time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89320" y="841248"/>
            <a:ext cx="2834640" cy="4005072"/>
          </a:xfrm>
          <a:prstGeom prst="rect">
            <a:avLst/>
          </a:prstGeom>
          <a:solidFill>
            <a:srgbClr val="1E3A4F"/>
          </a:solidFill>
          <a:ln w="1905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841248"/>
            <a:ext cx="2834640" cy="5486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96926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80760" y="1389888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 resumes per job opening on average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2103120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seconds — typical manual screening time per resume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2816352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qualified candidates rejected by ATS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0760" y="3529584"/>
            <a:ext cx="2633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unconscious bias in manual review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4023360" cy="1828800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097280"/>
            <a:ext cx="457200" cy="45720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247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07008" y="11247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from Resumes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61848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Resumes arrive in varied formats and structures. Extracting name, skills, experience, and education accurately requires robust NLP — keyword search alone fails.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023360" cy="1828800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9472" y="1097280"/>
            <a:ext cx="457200" cy="45720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12471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04688" y="112471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Job Matching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1618488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keyword match of "JavaScript" doesn't mean a candidate fits a senior React role. Semantic understanding and contextual relevance scoring are needed.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53512"/>
            <a:ext cx="4023360" cy="1828800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3090672"/>
            <a:ext cx="457200" cy="45720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11810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31181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Candidate Ranking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" y="361188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scoring is subjective and inconsistent. A fair, reproducible scoring model that objectively ranks candidates is critical.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53512"/>
            <a:ext cx="4023360" cy="1828800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19472" y="3090672"/>
            <a:ext cx="457200" cy="45720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11810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04688" y="31181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Scalability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19472" y="3611880"/>
            <a:ext cx="3703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hundreds of resumes in seconds requires efficient architecture — in-memory buffering, LPU inference, and non-blocking async pipelines.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60120"/>
            <a:ext cx="8229600" cy="1143000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73152" cy="11430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0332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98448" y="1033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Parser Using NLP Techniques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138074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Bhor, Shinde, Gupta, Nair, Kulkarni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577840" y="1069848"/>
            <a:ext cx="27432" cy="914400"/>
          </a:xfrm>
          <a:prstGeom prst="rect">
            <a:avLst/>
          </a:prstGeom>
          <a:solidFill>
            <a:srgbClr val="2D4A60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87568" y="103327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687568" y="1289304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structured extraction from unstructured resumes using NLP pipelines; basis for our data extraction module.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58568"/>
            <a:ext cx="8229600" cy="1143000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258568"/>
            <a:ext cx="73152" cy="11430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33172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58368" y="271576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98448" y="2331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Scoring Using TF-IDF &amp; Cosine Similarity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98448" y="2679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Yulita, Untoro, Praseptiawan, Ilham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2368296"/>
            <a:ext cx="27432" cy="914400"/>
          </a:xfrm>
          <a:prstGeom prst="rect">
            <a:avLst/>
          </a:prstGeom>
          <a:solidFill>
            <a:srgbClr val="2D4A60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23317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87568" y="2587752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vectorization + cosine similarity for objective text scoring — foundational to our ATS matching engine.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57016"/>
            <a:ext cx="8229600" cy="1143000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557016"/>
            <a:ext cx="73152" cy="11430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36301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8368" y="401421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98448" y="36301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Survey on Techniques in NLP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98448" y="39776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Ranjan, Mundada, Phaltane, Ahmad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3666744"/>
            <a:ext cx="27432" cy="914400"/>
          </a:xfrm>
          <a:prstGeom prst="rect">
            <a:avLst/>
          </a:prstGeom>
          <a:solidFill>
            <a:srgbClr val="2D4A60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87568" y="36301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87568" y="3886200"/>
            <a:ext cx="2834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review of NLP methods including tokenization, NER, and semantic analysis applied to recruitment context.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by BERT (Devlin et al., 2018), Word2Vec (Mikolov et al., 2013) &amp; Attention Is All You Need (Vaswani et al., 2017)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2697480" cy="3566160"/>
          </a:xfrm>
          <a:prstGeom prst="rect">
            <a:avLst/>
          </a:prstGeom>
          <a:solidFill>
            <a:srgbClr val="1E3A4F"/>
          </a:solidFill>
          <a:ln w="1905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2697480" cy="38404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89888"/>
            <a:ext cx="233172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264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48256"/>
            <a:ext cx="233172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06624"/>
            <a:ext cx="233172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364992"/>
            <a:ext cx="233172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2468880"/>
            <a:ext cx="109728" cy="54864"/>
          </a:xfrm>
          <a:prstGeom prst="rect">
            <a:avLst/>
          </a:prstGeom>
          <a:solidFill>
            <a:srgbClr val="8BAFC4"/>
          </a:solidFill>
          <a:ln w="12700">
            <a:solidFill>
              <a:srgbClr val="8BAF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23317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55848" y="868680"/>
            <a:ext cx="2697480" cy="3566160"/>
          </a:xfrm>
          <a:prstGeom prst="rect">
            <a:avLst/>
          </a:prstGeom>
          <a:solidFill>
            <a:srgbClr val="1E3A4F"/>
          </a:solidFill>
          <a:ln w="1905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55848" y="868680"/>
            <a:ext cx="2697480" cy="384048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89611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38728" y="1389888"/>
            <a:ext cx="233172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38728" y="14264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38728" y="2048256"/>
            <a:ext cx="233172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38728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(in-memory)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538728" y="2706624"/>
            <a:ext cx="233172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38728" y="3364992"/>
            <a:ext cx="233172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38728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99048" y="2468880"/>
            <a:ext cx="109728" cy="54864"/>
          </a:xfrm>
          <a:prstGeom prst="rect">
            <a:avLst/>
          </a:prstGeom>
          <a:solidFill>
            <a:srgbClr val="8BAFC4"/>
          </a:solidFill>
          <a:ln w="12700">
            <a:solidFill>
              <a:srgbClr val="8BAF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23317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254496" y="868680"/>
            <a:ext cx="2697480" cy="3566160"/>
          </a:xfrm>
          <a:prstGeom prst="rect">
            <a:avLst/>
          </a:prstGeom>
          <a:solidFill>
            <a:srgbClr val="1E3A4F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868680"/>
            <a:ext cx="2697480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89611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37376" y="1389888"/>
            <a:ext cx="233172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37376" y="142646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37376" y="2048256"/>
            <a:ext cx="233172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20848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SDK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37376" y="2706624"/>
            <a:ext cx="233172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37376" y="27432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Llama-4 Scout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37376" y="3364992"/>
            <a:ext cx="2331720" cy="512064"/>
          </a:xfrm>
          <a:prstGeom prst="rect">
            <a:avLst/>
          </a:prstGeom>
          <a:solidFill>
            <a:srgbClr val="0D1B2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37376" y="34015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4572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663440"/>
            <a:ext cx="960120" cy="292608"/>
          </a:xfrm>
          <a:prstGeom prst="rect">
            <a:avLst/>
          </a:prstGeom>
          <a:solidFill>
            <a:srgbClr val="2D4A60"/>
          </a:solidFill>
          <a:ln w="6350">
            <a:solidFill>
              <a:srgbClr val="00C9B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634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444752" y="4663440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554480" y="4663440"/>
            <a:ext cx="960120" cy="292608"/>
          </a:xfrm>
          <a:prstGeom prst="rect">
            <a:avLst/>
          </a:prstGeom>
          <a:solidFill>
            <a:srgbClr val="2D4A60"/>
          </a:solidFill>
          <a:ln w="6350">
            <a:solidFill>
              <a:srgbClr val="00C9B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54480" y="46634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→ Axios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542032" y="4663440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651760" y="4663440"/>
            <a:ext cx="960120" cy="292608"/>
          </a:xfrm>
          <a:prstGeom prst="rect">
            <a:avLst/>
          </a:prstGeom>
          <a:solidFill>
            <a:srgbClr val="2D4A60"/>
          </a:solidFill>
          <a:ln w="6350">
            <a:solidFill>
              <a:srgbClr val="00C9B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51760" y="46634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Router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639312" y="4663440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749040" y="4663440"/>
            <a:ext cx="960120" cy="292608"/>
          </a:xfrm>
          <a:prstGeom prst="rect">
            <a:avLst/>
          </a:prstGeom>
          <a:solidFill>
            <a:srgbClr val="2D4A60"/>
          </a:solidFill>
          <a:ln w="6350">
            <a:solidFill>
              <a:srgbClr val="00C9B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0" y="46634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Buffer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36592" y="4663440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846320" y="4663440"/>
            <a:ext cx="960120" cy="292608"/>
          </a:xfrm>
          <a:prstGeom prst="rect">
            <a:avLst/>
          </a:prstGeom>
          <a:solidFill>
            <a:srgbClr val="2D4A60"/>
          </a:solidFill>
          <a:ln w="6350">
            <a:solidFill>
              <a:srgbClr val="00C9B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46320" y="46634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833872" y="4663440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943600" y="4663440"/>
            <a:ext cx="960120" cy="292608"/>
          </a:xfrm>
          <a:prstGeom prst="rect">
            <a:avLst/>
          </a:prstGeom>
          <a:solidFill>
            <a:srgbClr val="2D4A60"/>
          </a:solidFill>
          <a:ln w="6350">
            <a:solidFill>
              <a:srgbClr val="00C9B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43600" y="46634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Inference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931152" y="4663440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040880" y="4663440"/>
            <a:ext cx="960120" cy="292608"/>
          </a:xfrm>
          <a:prstGeom prst="rect">
            <a:avLst/>
          </a:prstGeom>
          <a:solidFill>
            <a:srgbClr val="2D4A60"/>
          </a:solidFill>
          <a:ln w="6350">
            <a:solidFill>
              <a:srgbClr val="00C9B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40880" y="46634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8028432" y="4663440"/>
            <a:ext cx="9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138160" y="4663440"/>
            <a:ext cx="960120" cy="292608"/>
          </a:xfrm>
          <a:prstGeom prst="rect">
            <a:avLst/>
          </a:prstGeom>
          <a:solidFill>
            <a:srgbClr val="2D4A60"/>
          </a:solidFill>
          <a:ln w="6350">
            <a:solidFill>
              <a:srgbClr val="00C9B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138160" y="46634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68680"/>
            <a:ext cx="2697480" cy="34747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96112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2697480" cy="84124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457200" cy="457200"/>
          </a:xfrm>
          <a:prstGeom prst="ellipse">
            <a:avLst/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996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78992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18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8992" y="16367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 + hooks keep UI non-blocking during async AI processing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2249424"/>
            <a:ext cx="2697480" cy="84124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414016"/>
            <a:ext cx="457200" cy="457200"/>
          </a:xfrm>
          <a:prstGeom prst="ellipse">
            <a:avLst/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4323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992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8992" y="25694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atomic classes for fast, consistent, mobile-first styling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2697480" cy="84124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346704"/>
            <a:ext cx="457200" cy="457200"/>
          </a:xfrm>
          <a:prstGeom prst="ellipse">
            <a:avLst/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649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" y="32369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" y="35021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radar &amp; bar charts for skill and strength visual breakdowns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2697480" cy="84124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279392"/>
            <a:ext cx="457200" cy="457200"/>
          </a:xfrm>
          <a:prstGeom prst="ellipse">
            <a:avLst/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2976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" y="4169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78992" y="44348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Promise-based HTTP with interceptors for consistent auth header injection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55848" y="868680"/>
            <a:ext cx="2697480" cy="34747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55848" y="896112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55848" y="1316736"/>
            <a:ext cx="2697480" cy="84124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47288" y="1481328"/>
            <a:ext cx="457200" cy="457200"/>
          </a:xfrm>
          <a:prstGeom prst="ellipse">
            <a:avLst/>
          </a:prstGeom>
          <a:solidFill>
            <a:srgbClr val="4A9EFF">
              <a:alpha val="80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47288" y="14996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977640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77640" y="16367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non-blocking request handling with clean route modularization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55848" y="2249424"/>
            <a:ext cx="2697480" cy="84124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47288" y="2414016"/>
            <a:ext cx="457200" cy="457200"/>
          </a:xfrm>
          <a:prstGeom prst="ellipse">
            <a:avLst/>
          </a:prstGeom>
          <a:solidFill>
            <a:srgbClr val="4A9EFF">
              <a:alpha val="80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47288" y="24323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97764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77640" y="25694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file buffering — no disk I/O, faster processing, cleaner security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355848" y="3182112"/>
            <a:ext cx="2697480" cy="84124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47288" y="3346704"/>
            <a:ext cx="457200" cy="457200"/>
          </a:xfrm>
          <a:prstGeom prst="ellipse">
            <a:avLst/>
          </a:prstGeom>
          <a:solidFill>
            <a:srgbClr val="4A9EFF">
              <a:alpha val="80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47288" y="33649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977640" y="32369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977640" y="35021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footprint PDF-to-text without heavy dependencies or bloat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55848" y="4114800"/>
            <a:ext cx="2697480" cy="84124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447288" y="4279392"/>
            <a:ext cx="457200" cy="457200"/>
          </a:xfrm>
          <a:prstGeom prst="ellipse">
            <a:avLst/>
          </a:prstGeom>
          <a:solidFill>
            <a:srgbClr val="4A9EFF">
              <a:alpha val="80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47288" y="42976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977640" y="4169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977640" y="44348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Stateless, portable auth tokens — no session overhead, works across services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254496" y="868680"/>
            <a:ext cx="269748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54496" y="896112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AI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54496" y="1316736"/>
            <a:ext cx="2697480" cy="84124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45936" y="1481328"/>
            <a:ext cx="457200" cy="457200"/>
          </a:xfrm>
          <a:prstGeom prst="ellipse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45936" y="149961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76288" y="1371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76288" y="16367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Schema-flexible NoSQL stores deeply nested AI JSON output natively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254496" y="2249424"/>
            <a:ext cx="2697480" cy="84124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45936" y="2414016"/>
            <a:ext cx="457200" cy="457200"/>
          </a:xfrm>
          <a:prstGeom prst="ellipse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45936" y="243230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876288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SDK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76288" y="256946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LPU-accelerated inference — sub-second completions vs 10+ second GPU latency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54496" y="3182112"/>
            <a:ext cx="2697480" cy="84124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45936" y="3346704"/>
            <a:ext cx="457200" cy="457200"/>
          </a:xfrm>
          <a:prstGeom prst="ellipse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45936" y="33649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876288" y="32369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Llama-4 Scout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6876288" y="35021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skill extraction with inference beyond dedicated sections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254496" y="4114800"/>
            <a:ext cx="2697480" cy="84124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45936" y="4279392"/>
            <a:ext cx="457200" cy="457200"/>
          </a:xfrm>
          <a:prstGeom prst="ellipse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45936" y="429768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876288" y="41696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876288" y="44348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qualitative scoring, ATS tips, and fit-gap comparisons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114800" cy="420624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353312"/>
            <a:ext cx="310896" cy="310896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716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32688" y="138988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Resume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4114800" cy="420624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1856232"/>
            <a:ext cx="310896" cy="310896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8745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32688" y="189280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Express Server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22585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04288"/>
            <a:ext cx="4114800" cy="420624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359152"/>
            <a:ext cx="310896" cy="310896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37744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32688" y="239572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In-Memory Buffer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76148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07208"/>
            <a:ext cx="4114800" cy="420624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2862072"/>
            <a:ext cx="310896" cy="310896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8803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2688" y="289864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pdf-parse Text Extraction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26440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4114800" cy="420624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364992"/>
            <a:ext cx="310896" cy="31089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" y="338328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32688" y="34015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Llama-4 Inference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37673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813048"/>
            <a:ext cx="4114800" cy="420624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0352" y="3867912"/>
            <a:ext cx="310896" cy="31089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0352" y="388620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32688" y="390448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Results in MongoDB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42702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315968"/>
            <a:ext cx="4114800" cy="420624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352" y="4370832"/>
            <a:ext cx="310896" cy="310896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0352" y="438912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2688" y="440740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→ Dashboard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46320" y="1298448"/>
            <a:ext cx="1920240" cy="107899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📤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413248" y="138988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Upload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413248" y="170078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validation, in-memory buffer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903720" y="1298448"/>
            <a:ext cx="1920240" cy="107899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951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7470648" y="138988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470648" y="170078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text parsing, field identification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846320" y="2532888"/>
            <a:ext cx="1920240" cy="107899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377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413248" y="262432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 Analysis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413248" y="293522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Tokenize, identify required skills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03720" y="2532888"/>
            <a:ext cx="1920240" cy="107899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951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🔗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470648" y="262432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&amp; Scoring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470648" y="293522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+ LLM scoring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846320" y="3767328"/>
            <a:ext cx="1920240" cy="107899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377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5413248" y="38587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&amp; Report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413248" y="416966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output, ATS tips, gaps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03720" y="3767328"/>
            <a:ext cx="1920240" cy="107899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9516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7470648" y="38587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(MongoDB)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7470648" y="416966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JSON, user history, logs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Testing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5029200" cy="22860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C9B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5029200" cy="347472"/>
          </a:xfrm>
          <a:prstGeom prst="rect">
            <a:avLst/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41832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ATS Match Scoring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335024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Groq + Llama-4 Scout — structured JSON extraction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parsed = await groq.chat({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 "meta-llama/llama-4-scout-17b-16e-instruct",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messages: [{ role:"user", content: resumeText }],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response_format: { type: "json_object" 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Llama-3.3-70b — qualitative ATS evaluation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evaluation = await groq.chat({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model: "llama-3.3-70b-versatile",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messages: [{ role:"user", content: evalPrompt }]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850" dirty="0"/>
          </a:p>
          <a:p>
            <a:pPr marL="0" indent="0" algn="l">
              <a:buNone/>
            </a:pP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{ score, skills, ats_tips, recommendations };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5029200" cy="1572768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3649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Approach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69417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— each component independently testable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9684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+ REST API guidelines for code quality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424281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security standards — JWT, input sanitization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451713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Vectorization via scikit-learn for batch processing speed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914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77840" y="1298448"/>
            <a:ext cx="3246120" cy="62179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35331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0" y="16184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 |  Each module isolated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394192" y="1353312"/>
            <a:ext cx="923544" cy="237744"/>
          </a:xfrm>
          <a:prstGeom prst="roundRect">
            <a:avLst>
              <a:gd name="adj" fmla="val 30769"/>
            </a:avLst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94192" y="1362456"/>
            <a:ext cx="92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2011680"/>
            <a:ext cx="3246120" cy="62179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0665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0" y="233172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 |  Cross-module data flow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94192" y="2066544"/>
            <a:ext cx="923544" cy="237744"/>
          </a:xfrm>
          <a:prstGeom prst="roundRect">
            <a:avLst>
              <a:gd name="adj" fmla="val 30769"/>
            </a:avLst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94192" y="2075688"/>
            <a:ext cx="923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77840" y="2724912"/>
            <a:ext cx="3246120" cy="62179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0" y="27797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304495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 |  Endpoints &amp; auth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394192" y="2779776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94192" y="2788920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3438144"/>
            <a:ext cx="3246120" cy="62179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349300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Automation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375818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 |  End-to-end flows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394192" y="3493008"/>
            <a:ext cx="1124712" cy="237744"/>
          </a:xfrm>
          <a:prstGeom prst="roundRect">
            <a:avLst>
              <a:gd name="adj" fmla="val 30769"/>
            </a:avLst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94192" y="3502152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77840" y="4151376"/>
            <a:ext cx="3246120" cy="62179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0" y="42062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0" y="447141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Users  |  Usability &amp; accuracy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394192" y="4206240"/>
            <a:ext cx="1124712" cy="237744"/>
          </a:xfrm>
          <a:prstGeom prst="roundRect">
            <a:avLst>
              <a:gd name="adj" fmla="val 30769"/>
            </a:avLst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94192" y="4215384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Users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Planning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Gantt Chart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23444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989320" y="914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943600" y="1298448"/>
            <a:ext cx="2880360" cy="80467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35040" y="13716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95%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035040" y="17190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Accuracy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2231136"/>
            <a:ext cx="2880360" cy="80467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35040" y="230428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&lt;1s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035040" y="26517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LPU Inference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943600" y="3163824"/>
            <a:ext cx="2880360" cy="80467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0" y="32369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80/100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035040" y="358444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ATS Score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0" y="4096512"/>
            <a:ext cx="2880360" cy="80467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035040" y="41696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16+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035040" y="451713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Extracted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tested with HR professionals. All 5 test modules passed. No critical bugs at deployment.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Walkthrough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2697480" cy="190195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024128"/>
            <a:ext cx="2478024" cy="201168"/>
          </a:xfrm>
          <a:prstGeom prst="rect">
            <a:avLst/>
          </a:prstGeom>
          <a:solidFill>
            <a:srgbClr val="2D4A60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069848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069848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1069848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243584"/>
            <a:ext cx="2478024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280160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66928" y="193852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Landing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231136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hero with CTA — "Get Started Free", platform stats: 95% accuracy, 10K+ resumes, 4.9★ rating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55848" y="914400"/>
            <a:ext cx="2697480" cy="190195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5576" y="1024128"/>
            <a:ext cx="2478024" cy="201168"/>
          </a:xfrm>
          <a:prstGeom prst="rect">
            <a:avLst/>
          </a:prstGeom>
          <a:solidFill>
            <a:srgbClr val="2D4A60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1069848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48456" y="1069848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76472" y="1069848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65576" y="1243584"/>
            <a:ext cx="2478024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65576" y="1280160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65576" y="193852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65576" y="2231136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form with Full Name, Email, Password — protected route guards dashboard access via JWT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54496" y="914400"/>
            <a:ext cx="2697480" cy="190195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64224" y="1024128"/>
            <a:ext cx="2478024" cy="201168"/>
          </a:xfrm>
          <a:prstGeom prst="rect">
            <a:avLst/>
          </a:prstGeom>
          <a:solidFill>
            <a:srgbClr val="2D4A60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9088" y="1069848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47104" y="1069848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1069848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64224" y="1243584"/>
            <a:ext cx="2478024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1280160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64224" y="193852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Dashboard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64224" y="2231136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PDF upload (max 5MB). Real-time status: Completed / Processing / Failed with average score display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2971800"/>
            <a:ext cx="2697480" cy="190195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6928" y="3081528"/>
            <a:ext cx="2478024" cy="201168"/>
          </a:xfrm>
          <a:prstGeom prst="rect">
            <a:avLst/>
          </a:prstGeom>
          <a:solidFill>
            <a:srgbClr val="2D4A60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" y="3127248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9808" y="3127248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7824" y="3127248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6928" y="3300984"/>
            <a:ext cx="2478024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3337560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4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66928" y="399592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Report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6928" y="4288536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 (80/100), skill distribution radar, action verbs count, quantified bullets, skill gap highlights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355848" y="2971800"/>
            <a:ext cx="2697480" cy="190195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465576" y="3081528"/>
            <a:ext cx="2478024" cy="201168"/>
          </a:xfrm>
          <a:prstGeom prst="rect">
            <a:avLst/>
          </a:prstGeom>
          <a:solidFill>
            <a:srgbClr val="2D4A60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0440" y="3127248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48456" y="3127248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76472" y="3127248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465576" y="3300984"/>
            <a:ext cx="2478024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65576" y="3337560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5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3465576" y="399592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Extraction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465576" y="4288536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skills detected across Technical, Soft &amp; Tools categories. Parsed from resume body, projects, and experience sections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254496" y="2971800"/>
            <a:ext cx="2697480" cy="1901952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64224" y="3081528"/>
            <a:ext cx="2478024" cy="201168"/>
          </a:xfrm>
          <a:prstGeom prst="rect">
            <a:avLst/>
          </a:prstGeom>
          <a:solidFill>
            <a:srgbClr val="2D4A60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19088" y="3127248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47104" y="3127248"/>
            <a:ext cx="91440" cy="914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675120" y="3127248"/>
            <a:ext cx="91440" cy="9144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64224" y="3300984"/>
            <a:ext cx="2478024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64224" y="3337560"/>
            <a:ext cx="2478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6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6364224" y="399592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Suggestions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364224" y="4288536"/>
            <a:ext cx="2478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actionable tips: add summary, quantify impact, use action verbs, match JD keywords for ATS optimization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&amp; 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4389120" cy="786384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15568" y="1389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HR Teams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5568" y="168249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manual screening, speed up hiring, eliminate bias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4389120" cy="786384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15568" y="23042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259689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matching between resumes and posted roles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27248"/>
            <a:ext cx="4389120" cy="786384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5568" y="32186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5568" y="351129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cells match graduates to opportunities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41648"/>
            <a:ext cx="4389120" cy="786384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🏭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15568" y="41330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Agencies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442569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thousands quickly; send only best matches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2064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4920" y="1298448"/>
            <a:ext cx="3749040" cy="786384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74920" y="1298448"/>
            <a:ext cx="64008" cy="786384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30368" y="13898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Time Saving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30368" y="1700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100s of resumes in seconds, not hours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74920" y="2212848"/>
            <a:ext cx="3749040" cy="786384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74920" y="2212848"/>
            <a:ext cx="64008" cy="786384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30368" y="23042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Fair &amp; Unbiased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30368" y="2615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data-driven scoring every time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74920" y="3127248"/>
            <a:ext cx="3749040" cy="786384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74920" y="3127248"/>
            <a:ext cx="64008" cy="78638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Better Accuracy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30368" y="3529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semantic analysis vs keyword matching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74920" y="4041648"/>
            <a:ext cx="3749040" cy="786384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074920" y="4041648"/>
            <a:ext cx="64008" cy="786384"/>
          </a:xfrm>
          <a:prstGeom prst="rect">
            <a:avLst/>
          </a:prstGeom>
          <a:solidFill>
            <a:srgbClr val="009E8C"/>
          </a:solidFill>
          <a:ln w="12700">
            <a:solidFill>
              <a:srgbClr val="009E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30368" y="4133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9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Accessible Anywhere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30368" y="44439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Web-based, PDF + DOCX support, mobile-friendly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4114800" cy="1188720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024128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03327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316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User Accounts &amp; Dashboards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recruiter dashboards to manage, track, and compare candidates across multiple job postings.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1188720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1024128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03327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64608" y="1316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Job Portal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60934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integration with LinkedIn, Indeed, and Naukri to auto-fetch resumes and job descriptions.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67712"/>
            <a:ext cx="4114800" cy="1188720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2377440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4A9EFF">
              <a:alpha val="80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38658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Advanced AI Models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296265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domain-specific models for IT, Healthcare, Finance — improving sector-specific scoring accuracy.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67712"/>
            <a:ext cx="4114800" cy="1188720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64608" y="2377440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4A9EFF">
              <a:alpha val="80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386584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64608" y="26700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Candidate Communication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64608" y="296265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email outreach, interview scheduling, and AI-generated feedback for rejected candidates.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21024"/>
            <a:ext cx="4114800" cy="1188720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" y="3730752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739896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6928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Analytics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" y="43159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funnel visualization, time-to-hire metrics, diversity analytics, and recruiter performance tracking.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621024"/>
            <a:ext cx="4114800" cy="1188720"/>
          </a:xfrm>
          <a:prstGeom prst="rect">
            <a:avLst/>
          </a:prstGeom>
          <a:solidFill>
            <a:srgbClr val="1E3A4F"/>
          </a:solidFill>
          <a:ln w="12700">
            <a:solidFill>
              <a:srgbClr val="2D4A6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730752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739896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64608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Enterprise Scale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64608" y="43159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 deployment, role-based access control, and integration with HRMS platforms like SAP, Workday.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solidFill>
            <a:srgbClr val="1E3A4F"/>
          </a:solidFill>
          <a:ln w="19050">
            <a:solidFill>
              <a:srgbClr val="00C9B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24128"/>
            <a:ext cx="79552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 Resume Analyzer successfully demonstrates how Groq LPU acceleration and large language models (Llama-4 Scout + Llama-3.3-70b) can revolutionize talent acquisition. By replacing keyword-based ATS with semantic, context-aware analysis, the system achieves sub-second inference, 95% parsing accuracy, and fair, reproducible candidate scoring. The modular React + Express + MongoDB stack ensures scalability for enterprise-grade recruitment workflows.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670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resume parsing &amp; structured data extraction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364992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compatibility scoring with personalized skill-gap feedback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12464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Sub-second Groq LPU inference — 10× faster than GPU alternatives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05993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auth + MongoDB persistence + React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40740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test coverage: Unit → Integration → UAT — all modules passed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109728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3268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Bhor, S. et al. (2025). Resume Parser Using Natural Language Processing Techniques. Pillai College of Engineering.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53896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Yulita, W. et al. (2023). Automatic Scoring Using TF-IDF &amp; Cosine Similarity.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7510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Ranjan, N. et al. (2021). A Survey on Techniques in NLP. SITS, Pune University.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496312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Devlin, J. et al. (2018). BERT: Pre-training Deep Bidirectional Transformers. arXiv:1810.04805.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Vaswani, A. et al. (2017). Attention Is All You Need. NeurIPS. Curran Associates.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53872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Mikolov, T. et al. (2013). Efficient Estimation of Word Representations in Vector Space. arXiv:1301.3781.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059936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Javed, H. &amp; Malik, A. (2022). AI-Powered Resume Screening using ML &amp; NLP. IJACSA, 13(9).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58114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Kumar, R. &amp; Mehta, S. (2021). Automated Resume Shortlisting using TF-IDF &amp; Cosine Similarity. IRJET, 8(6).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0C9B1">
              <a:alpha val="12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114800" cy="4114800"/>
          </a:xfrm>
          <a:prstGeom prst="ellipse">
            <a:avLst/>
          </a:prstGeom>
          <a:solidFill>
            <a:srgbClr val="4A9EFF">
              <a:alpha val="12000"/>
            </a:srgbClr>
          </a:solidFill>
          <a:ln w="12700">
            <a:solidFill>
              <a:srgbClr val="4A9E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Aatish Ramdas Arote (02)  |  Viraj Vilas Gawari (12)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93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Aarya Pramod Koli (25)  |  Amey Anand Sarode (51)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24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Prof. D. S. Tharwani  |  Dept. of Computer Engineering, KGCE Karjat  |  2025–26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4681728"/>
            <a:ext cx="1124712" cy="237744"/>
          </a:xfrm>
          <a:prstGeom prst="roundRect">
            <a:avLst>
              <a:gd name="adj" fmla="val 30769"/>
            </a:avLst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4690872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65960" y="4681728"/>
            <a:ext cx="1325880" cy="237744"/>
          </a:xfrm>
          <a:prstGeom prst="roundRect">
            <a:avLst>
              <a:gd name="adj" fmla="val 30769"/>
            </a:avLst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4690872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37560" y="4681728"/>
            <a:ext cx="1024128" cy="237744"/>
          </a:xfrm>
          <a:prstGeom prst="roundRect">
            <a:avLst>
              <a:gd name="adj" fmla="val 30769"/>
            </a:avLst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469087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4681728"/>
            <a:ext cx="1124712" cy="237744"/>
          </a:xfrm>
          <a:prstGeom prst="roundRect">
            <a:avLst>
              <a:gd name="adj" fmla="val 30769"/>
            </a:avLst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4690872"/>
            <a:ext cx="1124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SDK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4681728"/>
            <a:ext cx="1627632" cy="237744"/>
          </a:xfrm>
          <a:prstGeom prst="roundRect">
            <a:avLst>
              <a:gd name="adj" fmla="val 30769"/>
            </a:avLst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469087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Llama-4 Scout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52360" y="4681728"/>
            <a:ext cx="621792" cy="237744"/>
          </a:xfrm>
          <a:prstGeom prst="roundRect">
            <a:avLst>
              <a:gd name="adj" fmla="val 30769"/>
            </a:avLst>
          </a:prstGeom>
          <a:solidFill>
            <a:srgbClr val="00C9B1">
              <a:alpha val="80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469087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1818</Words>
  <Application>Microsoft Office PowerPoint</Application>
  <PresentationFormat>On-screen Show (16:9)</PresentationFormat>
  <Paragraphs>354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Resume Analyzer</dc:title>
  <dc:subject>PptxGenJS Presentation</dc:subject>
  <dc:creator>PptxGenJS</dc:creator>
  <cp:lastModifiedBy>Aatish Arote</cp:lastModifiedBy>
  <cp:revision>1</cp:revision>
  <dcterms:created xsi:type="dcterms:W3CDTF">2026-04-24T17:30:56Z</dcterms:created>
  <dcterms:modified xsi:type="dcterms:W3CDTF">2026-04-24T17:32:14Z</dcterms:modified>
</cp:coreProperties>
</file>